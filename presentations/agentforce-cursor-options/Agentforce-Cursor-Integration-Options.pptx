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64608" y="0"/>
            <a:ext cx="7333488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Calibri"/>
              </a:rPr>
              <a:t>OPTIONS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How Agentforce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talks to Cursor-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built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B8CC"/>
                </a:solidFill>
                <a:latin typeface="Calibri"/>
              </a:rPr>
              <a:t>Decision deck for MuleSoft Agent Fabric wiring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7A8EA8"/>
                </a:solidFill>
                <a:latin typeface="Calibri"/>
              </a:rPr>
              <a:t>Neuraflash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9202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1F3A"/>
                </a:solidFill>
                <a:latin typeface="Calibri"/>
              </a:rPr>
              <a:t>Two viable paths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743200"/>
            <a:ext cx="5943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2926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7C86"/>
                </a:solidFill>
                <a:latin typeface="Calibri"/>
              </a:rPr>
              <a:t>Option A — Mule MCP app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Register a MuleSoft MCP server in Agent Fabric. Agentforce keeps the reasoning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4160520"/>
            <a:ext cx="5943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4343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7C86"/>
                </a:solidFill>
                <a:latin typeface="Calibri"/>
              </a:rPr>
              <a:t>Option B — Cursor BDK agent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Expose a Cursor-built agent over MCP or A2A. Full model turns live in Cursor (self-hosted today).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1A1F2B"/>
                </a:solidFill>
                <a:latin typeface="Calibri"/>
              </a:rPr>
              <a:t>1.  Context  —  </a:t>
            </a:r>
            <a:r>
              <a:rPr sz="1800" b="0">
                <a:solidFill>
                  <a:srgbClr val="5A6678"/>
                </a:solidFill>
                <a:latin typeface="Calibri"/>
              </a:rPr>
              <a:t>What we built and the constraint we hit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A1F2B"/>
                </a:solidFill>
                <a:latin typeface="Calibri"/>
              </a:rPr>
              <a:t>2.  Decision  —  </a:t>
            </a:r>
            <a:r>
              <a:rPr sz="1800" b="0">
                <a:solidFill>
                  <a:srgbClr val="5A6678"/>
                </a:solidFill>
                <a:latin typeface="Calibri"/>
              </a:rPr>
              <a:t>How Agentforce should reach Cursor-built capability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A1F2B"/>
                </a:solidFill>
                <a:latin typeface="Calibri"/>
              </a:rPr>
              <a:t>3.  Option A  —  </a:t>
            </a:r>
            <a:r>
              <a:rPr sz="1800" b="0">
                <a:solidFill>
                  <a:srgbClr val="5A6678"/>
                </a:solidFill>
                <a:latin typeface="Calibri"/>
              </a:rPr>
              <a:t>Mule MCP Connector app (Fabric-native tools)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A1F2B"/>
                </a:solidFill>
                <a:latin typeface="Calibri"/>
              </a:rPr>
              <a:t>4.  Option B  —  </a:t>
            </a:r>
            <a:r>
              <a:rPr sz="1800" b="0">
                <a:solidFill>
                  <a:srgbClr val="5A6678"/>
                </a:solidFill>
                <a:latin typeface="Calibri"/>
              </a:rPr>
              <a:t>Cursor BDK agent via MCP / A2A (agent reasoning)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A1F2B"/>
                </a:solidFill>
                <a:latin typeface="Calibri"/>
              </a:rPr>
              <a:t>5.  Compare  —  </a:t>
            </a:r>
            <a:r>
              <a:rPr sz="1800" b="0">
                <a:solidFill>
                  <a:srgbClr val="5A6678"/>
                </a:solidFill>
                <a:latin typeface="Calibri"/>
              </a:rPr>
              <a:t>Intelligence, hosting, governance, effort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1A1F2B"/>
                </a:solidFill>
                <a:latin typeface="Calibri"/>
              </a:rPr>
              <a:t>6.  Recommend  —  </a:t>
            </a:r>
            <a:r>
              <a:rPr sz="1800" b="0">
                <a:solidFill>
                  <a:srgbClr val="5A6678"/>
                </a:solidFill>
                <a:latin typeface="Calibri"/>
              </a:rPr>
              <a:t>Path for now + what to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Project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7C86"/>
                </a:solidFill>
                <a:latin typeface="Calibri"/>
              </a:rPr>
              <a:t>What we set out to do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F2B"/>
                </a:solidFill>
                <a:latin typeface="Calibri"/>
              </a:rPr>
              <a:t>•  Give Salesforce Agentforce access to internal knowledge (SKU, discount, SLA, competitive).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F2B"/>
                </a:solidFill>
                <a:latin typeface="Calibri"/>
              </a:rPr>
              <a:t>•  Route through MuleSoft Agent Fabric so the capability is registered, governable, and reusable.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F2B"/>
                </a:solidFill>
                <a:latin typeface="Calibri"/>
              </a:rPr>
              <a:t>•  Prefer a Cursor-built agent for intelligent, cited answers.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0E7C86"/>
                </a:solidFill>
                <a:latin typeface="Calibri"/>
              </a:rPr>
              <a:t>What we learned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F2B"/>
                </a:solidFill>
                <a:latin typeface="Calibri"/>
              </a:rPr>
              <a:t>•  Cursor-managed hosting (architecture v2) does not yet expose a public MCP/A2A URL Agent Fabric can register.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F2B"/>
                </a:solidFill>
                <a:latin typeface="Calibri"/>
              </a:rPr>
              <a:t>•  Hosted custom channels return empty 202s — A2A agent cards cannot be served synchronously.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1A1F2B"/>
                </a:solidFill>
                <a:latin typeface="Calibri"/>
              </a:rPr>
              <a:t>•  A Mule MCP Connector app can register today at https://&lt;host&gt;/mcp.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303520" cy="47548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7C86"/>
                </a:solidFill>
                <a:latin typeface="Calibri"/>
              </a:rPr>
              <a:t>Already in the repo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mule-knowledge-mcp/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A8B8CC"/>
                </a:solidFill>
                <a:latin typeface="Calibri"/>
              </a:rPr>
              <a:t>Anypoint MCP server — ready to deploy &amp; register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knowledge-fabric/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A8B8CC"/>
                </a:solidFill>
                <a:latin typeface="Calibri"/>
              </a:rPr>
              <a:t>Cursor BDK agent with tools + A2A channel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mule-agent-fabric/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A8B8CC"/>
                </a:solidFill>
                <a:latin typeface="Calibri"/>
              </a:rPr>
              <a:t>Sample Agent Network wiring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The decision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Calibri"/>
              </a:rPr>
              <a:t>Should Agentforce call Cursor capability as tools through a Mule MCP server, or as a peer agent with its own model reasoning?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109728" cy="2011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7C86"/>
                </a:solidFill>
                <a:latin typeface="Calibri"/>
              </a:rPr>
              <a:t>Tools path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A6678"/>
                </a:solidFill>
                <a:latin typeface="Calibri"/>
              </a:rPr>
              <a:t>Agentforce (or Fabric broker) owns planning.
Cursor/Mule surface returns evidence via MCP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657600"/>
            <a:ext cx="109728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45309"/>
                </a:solidFill>
                <a:latin typeface="Calibri"/>
              </a:rPr>
              <a:t>Agent path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A6678"/>
                </a:solidFill>
                <a:latin typeface="Calibri"/>
              </a:rPr>
              <a:t>Cursor agent owns the turn: search → reason → cite.
Fabric reaches it over MCP ask or A2A message/send.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Option A — Mule MCP Connector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E7C86"/>
                </a:solidFill>
                <a:latin typeface="Calibri"/>
              </a:rPr>
              <a:t>RECOMMENDED FOR AGENT FABRIC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468880" cy="1143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Agentforce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Topic /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7451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E7C8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468880" cy="1143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Agent Fabric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Broker +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87451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E7C86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468880" cy="1143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Mule MCP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/mcp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87451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E7C8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2468880" cy="11430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Knowledge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Markdown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Deploy mule-knowledge-mcp to CloudHub 2.0 / Runtime Fabric / Hybrid (NETTY required).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Register https://&lt;host&gt;/mcp in Anypoint Exchange as an MCP server; wire Agent Network kind: mcp.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Tools: search_knowledge, get_knowledge_document, list_knowledge_documents.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Intelligence lives in Agentforce (or the Fabric broker LLM). MCP returns evidence only — no Cursor model turn.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Apply Anypoint policies (Client ID / JWT / rate limit) before exposing to Fabric.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Option A —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50292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Fabric-native today — registerable MCP URL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Fits Anypoint ops model (deploy, policies, Exchange)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Clear separation: tools vs Agentforce reasoning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No dependency on Cursor public MCP gateway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Lower runtime coupling to Cursor hosting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1430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143000"/>
            <a:ext cx="5486400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Tradeoffs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No Cursor model reasoning on the knowledge turn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Reimplements tools in Mule/DataWeave (not BDK)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Corpus packaging is Mule-app-centric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Less “agent personality” / multi-step host logic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Eval / hillclimb loop stays outside Cursor BDK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Option B — Cursor BDK agent (MCP or A2A)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FULL AGENT REASONING  ·  REQUIRES SELF-HOST (OR FUTURE V2 PUBLIC MCP)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468880" cy="1143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Agentforce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Topic /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7451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E7C8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468880" cy="1143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Agent Fabric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Broker +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87451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E7C86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468880" cy="11430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Cursor BDK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MCP ask / A2A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874519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E7C8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2468880" cy="11430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Model turn</a:t>
            </a:r>
          </a:p>
          <a:p>
            <a:pPr algn="ctr"/>
            <a:r>
              <a:rPr sz="1200" b="0">
                <a:solidFill>
                  <a:srgbClr val="C5D2E0"/>
                </a:solidFill>
                <a:latin typeface="Calibri"/>
              </a:rPr>
              <a:t>search → cite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knowledge-fabric agent already implements tools, cite skill, MCP (/v1/mcp), and A2A card + message/send.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MCP path: register public MCP URL; Fabric broker calls ask / tools with bearer auth.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A2A path: register https://&lt;host&gt;/v1/channels/a2a/ so Fabric can fetch the agent card (self-host only).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Cursor-managed v2 deploy works for playground / control-plane sessions — not for Fabric registration today.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Not recommended: Mule facade that polls Cursor’s private control-plane APIs (possible, fragile).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Option B — hosting reality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2560320" cy="914400"/>
          </a:xfrm>
          <a:prstGeom prst="rect">
            <a:avLst/>
          </a:prstGeom>
          <a:solidFill>
            <a:srgbClr val="0B1F3A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Hosting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234440"/>
            <a:ext cx="3108960" cy="914400"/>
          </a:xfrm>
          <a:prstGeom prst="rect">
            <a:avLst/>
          </a:prstGeom>
          <a:solidFill>
            <a:srgbClr val="0B1F3A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904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Public MCP/A2A for Fabric?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9" y="1234440"/>
            <a:ext cx="5303520" cy="914400"/>
          </a:xfrm>
          <a:prstGeom prst="rect">
            <a:avLst/>
          </a:prstGeom>
          <a:solidFill>
            <a:srgbClr val="0B1F3A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4904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505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F2B"/>
                </a:solidFill>
                <a:latin typeface="Calibri"/>
              </a:rPr>
              <a:t>Cursor-managed (v2)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194560"/>
            <a:ext cx="3108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45059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F2B"/>
                </a:solidFill>
                <a:latin typeface="Calibri"/>
              </a:rPr>
              <a:t>No — not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19" y="2194560"/>
            <a:ext cx="5303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24505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B"/>
                </a:solidFill>
                <a:latin typeface="Calibri"/>
              </a:rPr>
              <a:t>/v1/mcp 404s; custom channels return empty 202; no ship date for 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54680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107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F2B"/>
                </a:solidFill>
                <a:latin typeface="Calibri"/>
              </a:rPr>
              <a:t>Self-host bdk serve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154680"/>
            <a:ext cx="3108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41071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F2B"/>
                </a:solidFill>
                <a:latin typeface="Calibri"/>
              </a:rPr>
              <a:t>Yes — with public HTTPS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19" y="3154680"/>
            <a:ext cx="5303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4107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B"/>
                </a:solidFill>
                <a:latin typeface="Calibri"/>
              </a:rPr>
              <a:t>Put behind Omni Gateway / reverse proxy; bearer token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2560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7083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F2B"/>
                </a:solidFill>
                <a:latin typeface="Calibri"/>
              </a:rPr>
              <a:t>Laptop loopback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4114800"/>
            <a:ext cx="3108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37083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F2B"/>
                </a:solidFill>
                <a:latin typeface="Calibr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19" y="4114800"/>
            <a:ext cx="5303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79" y="43708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B"/>
                </a:solidFill>
                <a:latin typeface="Calibri"/>
              </a:rPr>
              <a:t>Agent Fabric cannot reach 127.0.0.1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8"/>
                </a:solidFill>
                <a:latin typeface="Calibri"/>
              </a:rPr>
              <a:t>Implication: choosing Option B for production Agent Fabric means operating a self-hosted BDK endpoint (or waiting for Cursor’s public MCP gateway on v2).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Option B —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50292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Full Cursor model turn: search, reason, cite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BDK evals / hillclimb / playground loop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Same codebase can serve MCP and A2A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Closer to “call an agent,” not just tools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Future-proof if Cursor publishes MCP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1430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143000"/>
            <a:ext cx="5486400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Tradeoffs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Not Fabric-ready on Cursor hosting today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Self-hosting adds ops (TLS, auth, uptime)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A2A on hosted v2 is blocked by empty 202s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Anypoint team may prefer a Mule package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A1F2B"/>
                </a:solidFill>
                <a:latin typeface="Calibri"/>
              </a:rPr>
              <a:t>•  Bridge-over-control-plane is a footgun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Side-by-side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2377440" cy="685800"/>
          </a:xfrm>
          <a:prstGeom prst="rect">
            <a:avLst/>
          </a:prstGeom>
          <a:solidFill>
            <a:srgbClr val="0B1F3A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80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097280"/>
            <a:ext cx="4297680" cy="685800"/>
          </a:xfrm>
          <a:prstGeom prst="rect">
            <a:avLst/>
          </a:prstGeom>
          <a:solidFill>
            <a:srgbClr val="0B1F3A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Option A — Mule MCP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097280"/>
            <a:ext cx="4297680" cy="685800"/>
          </a:xfrm>
          <a:prstGeom prst="rect">
            <a:avLst/>
          </a:prstGeom>
          <a:solidFill>
            <a:srgbClr val="0B1F3A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Option B — Cursor BDK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377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F2B"/>
                </a:solidFill>
                <a:latin typeface="Calibri"/>
              </a:rPr>
              <a:t>Who reasons?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783080"/>
            <a:ext cx="4297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1965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Agentforce / Fabric broker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783080"/>
            <a:ext cx="4297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965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Cursor agent model turn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237744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F2B"/>
                </a:solidFill>
                <a:latin typeface="Calibri"/>
              </a:rPr>
              <a:t>Protocol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468880"/>
            <a:ext cx="429768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MCP 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468880"/>
            <a:ext cx="429768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MCP ask and/or A2A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54680"/>
            <a:ext cx="2377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F2B"/>
                </a:solidFill>
                <a:latin typeface="Calibri"/>
              </a:rPr>
              <a:t>Fabric-ready now?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154680"/>
            <a:ext cx="4297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3337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4297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33488" y="3337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Only if self-hosted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40480"/>
            <a:ext cx="237744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023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F2B"/>
                </a:solidFill>
                <a:latin typeface="Calibri"/>
              </a:rPr>
              <a:t>Anypoint package?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840480"/>
            <a:ext cx="429768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840480"/>
            <a:ext cx="429768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3488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No (Node/BDK)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26280"/>
            <a:ext cx="23774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F2B"/>
                </a:solidFill>
                <a:latin typeface="Calibri"/>
              </a:rPr>
              <a:t>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4526280"/>
            <a:ext cx="4297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5808" y="4709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Exchange + Anypoint policies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526280"/>
            <a:ext cx="4297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33488" y="4709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Gateway + bearer; manual register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212080"/>
            <a:ext cx="237744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394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F2B"/>
                </a:solidFill>
                <a:latin typeface="Calibri"/>
              </a:rPr>
              <a:t>Best when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5212080"/>
            <a:ext cx="429768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35808" y="5394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Need production Fabric path now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5212080"/>
            <a:ext cx="4297680" cy="685800"/>
          </a:xfrm>
          <a:prstGeom prst="rect">
            <a:avLst/>
          </a:prstGeom>
          <a:solidFill>
            <a:srgbClr val="E6F4F5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3488" y="5394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B"/>
                </a:solidFill>
                <a:latin typeface="Calibri"/>
              </a:rPr>
              <a:t>Need agent-quality answers / evals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Will MCP be as “intelligent” as the agent?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MCP gives tools. An agent adds reasoning. Same evidence can look “smart” or “dumb” depending on who plans the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6118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Calibri"/>
              </a:rPr>
              <a:t>Option A answer quality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Depends on Agentforce topic instructions + tool allowlisting. Strong if the topic forces search → get_document → cite. Weak if Agentforce invents without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26080"/>
            <a:ext cx="36118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15468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Calibri"/>
              </a:rPr>
              <a:t>Option B answer quality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Cursor instructions + cite skill + evals drive consistency. Better for multi-step retrieval and refusal when knowledge is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926080"/>
            <a:ext cx="36118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Calibri"/>
              </a:rPr>
              <a:t>Practical takeaway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If Agentforce prompt discipline is solid, Option A is enough for knowledge Q&amp;A. If you need BDK-grade behavior, choose Option B and self-host.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12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1064240" cy="182880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Ship Option A now for Agentforce ↔ Fabric.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6F4F5"/>
                </a:solidFill>
                <a:latin typeface="Calibri"/>
              </a:rPr>
              <a:t>Keep Option B as the Cursor-native path: continue knowledge-fabric for evals, and self-host when you need Fabric to call a full Cursor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486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393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611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B"/>
                </a:solidFill>
                <a:latin typeface="Calibri"/>
              </a:rPr>
              <a:t>Deploy mule-knowledge-mcp to CloudHub 2.0 / RTF with NETTY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291840"/>
            <a:ext cx="5486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35661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3931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611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B"/>
                </a:solidFill>
                <a:latin typeface="Calibri"/>
              </a:rPr>
              <a:t>Register /mcp in Exchange; wire agent-network.yaml broker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486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B"/>
                </a:solidFill>
                <a:latin typeface="Calibri"/>
              </a:rPr>
              <a:t>Point Agentforce topic at the Fabric broker; enforce cite-only instructions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526280"/>
            <a:ext cx="5486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480060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737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F2B"/>
                </a:solidFill>
                <a:latin typeface="Calibri"/>
              </a:rPr>
              <a:t>Optionally self-host knowledge-fabric later for agent-grade turns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Open questions for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1064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09728" cy="10058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Where must intelligence live?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Is Agentforce topic quality enough, or do we need Cursor’s model loop in the critical path?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09728" cy="10058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Who operates the endpoint?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Anypoint team (Option A) vs team willing to self-host BDK (Option B)?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11064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09728" cy="10058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Timeline vs purity?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Do we need Fabric registration this sprint, or can we wait on Cursor’s v2 MCP gateway?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1064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09728" cy="10058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Corpus ownership?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A6678"/>
                </a:solidFill>
                <a:latin typeface="Calibri"/>
              </a:rPr>
              <a:t>Who updates knowledge articles — Mule package releases vs Cursor agent knowledge/ folder?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Appendix — 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Neuraflash  ·  Agentforce ↔ Cursor agents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678"/>
                </a:solidFill>
                <a:latin typeface="Calibri"/>
              </a:rP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1A1F2B"/>
                </a:solidFill>
                <a:latin typeface="Calibri"/>
              </a:rPr>
              <a:t>Repo paths:  </a:t>
            </a:r>
            <a:r>
              <a:rPr sz="1500" b="0">
                <a:solidFill>
                  <a:srgbClr val="5A6678"/>
                </a:solidFill>
                <a:latin typeface="Calibri"/>
              </a:rPr>
              <a:t>mule-knowledge-mcp/  ·  knowledge-fabric/  ·  mule-agent-fabric/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F2B"/>
                </a:solidFill>
                <a:latin typeface="Calibri"/>
              </a:rPr>
              <a:t>Prior build:  </a:t>
            </a:r>
            <a:r>
              <a:rPr sz="1500" b="0">
                <a:solidFill>
                  <a:srgbClr val="5A6678"/>
                </a:solidFill>
                <a:latin typeface="Calibri"/>
              </a:rPr>
              <a:t>Cursor agent “Cursor internal knowledge agent” — deployed knowledge-fabric on NeuraFlash team (v2).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F2B"/>
                </a:solidFill>
                <a:latin typeface="Calibri"/>
              </a:rPr>
              <a:t>Constraint:  </a:t>
            </a:r>
            <a:r>
              <a:rPr sz="1500" b="0">
                <a:solidFill>
                  <a:srgbClr val="5A6678"/>
                </a:solidFill>
                <a:latin typeface="Calibri"/>
              </a:rPr>
              <a:t>Cursor-managed architecture v2 does not expose a registerable public MCP URL for Agent Fabric.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F2B"/>
                </a:solidFill>
                <a:latin typeface="Calibri"/>
              </a:rPr>
              <a:t>Salesforce framing:  </a:t>
            </a:r>
            <a:r>
              <a:rPr sz="1500" b="0">
                <a:solidFill>
                  <a:srgbClr val="5A6678"/>
                </a:solidFill>
                <a:latin typeface="Calibri"/>
              </a:rPr>
              <a:t>Tool surface → MCP; peer agent that owns planning → A2A (Interoperability Guide).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F2B"/>
                </a:solidFill>
                <a:latin typeface="Calibri"/>
              </a:rPr>
              <a:t>Agentforce note:  </a:t>
            </a:r>
            <a:r>
              <a:rPr sz="1500" b="0">
                <a:solidFill>
                  <a:srgbClr val="5A6678"/>
                </a:solidFill>
                <a:latin typeface="Calibri"/>
              </a:rPr>
              <a:t>Not natively A2A — Fabric A2A Bridge or MCP registration is the usual path.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F2B"/>
                </a:solidFill>
                <a:latin typeface="Calibri"/>
              </a:rPr>
              <a:t>Avoid:  </a:t>
            </a:r>
            <a:r>
              <a:rPr sz="1500" b="0">
                <a:solidFill>
                  <a:srgbClr val="5A6678"/>
                </a:solidFill>
                <a:latin typeface="Calibri"/>
              </a:rPr>
              <a:t>Treating Bruno/Postman control-plane curls as an Agent Fabric integration.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A1F2B"/>
                </a:solidFill>
                <a:latin typeface="Calibri"/>
              </a:rPr>
              <a:t>Style note:  </a:t>
            </a:r>
            <a:r>
              <a:rPr sz="1500" b="0">
                <a:solidFill>
                  <a:srgbClr val="5A6678"/>
                </a:solidFill>
                <a:latin typeface="Calibri"/>
              </a:rPr>
              <a:t>Reference Google Slides deck was inaccessible (auth). Align visuals once shared.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